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71" r:id="rId3"/>
    <p:sldId id="291" r:id="rId4"/>
    <p:sldId id="257" r:id="rId5"/>
    <p:sldId id="258" r:id="rId6"/>
    <p:sldId id="282" r:id="rId7"/>
    <p:sldId id="284" r:id="rId8"/>
    <p:sldId id="289" r:id="rId9"/>
    <p:sldId id="294" r:id="rId10"/>
    <p:sldId id="299" r:id="rId11"/>
    <p:sldId id="285" r:id="rId12"/>
    <p:sldId id="288" r:id="rId13"/>
    <p:sldId id="286" r:id="rId14"/>
    <p:sldId id="293" r:id="rId15"/>
    <p:sldId id="295" r:id="rId16"/>
    <p:sldId id="297" r:id="rId17"/>
    <p:sldId id="287" r:id="rId18"/>
    <p:sldId id="292" r:id="rId19"/>
    <p:sldId id="268" r:id="rId20"/>
    <p:sldId id="298" r:id="rId21"/>
    <p:sldId id="290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8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7662B-A1C8-464B-90B0-68B41CA58941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86E07-327D-42DF-98FF-7B83F0949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7093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7C36A-793B-466A-835F-35E8E3083D74}" type="datetimeFigureOut">
              <a:rPr lang="en-US" smtClean="0"/>
              <a:pPr/>
              <a:t>6/27/2022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E350D-3248-4DCD-9EE2-10E2DB0154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92203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361CF-562D-4C98-AC42-A089039F0B6F}" type="datetime1">
              <a:rPr lang="en-US" smtClean="0"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FCFA-0C67-4793-A997-2E745B0480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6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3D5CF-25FB-4670-8589-34178AEE20D3}" type="datetime1">
              <a:rPr lang="en-US" smtClean="0"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FCFA-0C67-4793-A997-2E745B0480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844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D4A28-2E65-4FFB-8383-53D7A8DCA57D}" type="datetime1">
              <a:rPr lang="en-US" smtClean="0"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FCFA-0C67-4793-A997-2E745B0480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776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6880-DDBC-4AC6-9DAC-088271534E27}" type="datetime1">
              <a:rPr lang="en-US" smtClean="0"/>
              <a:t>6/27/2022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FCFA-0C67-4793-A997-2E745B0480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737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63A26-9DF2-42F6-BCCA-4FD37FCAFC4E}" type="datetime1">
              <a:rPr lang="en-US" smtClean="0"/>
              <a:t>6/27/2022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FCFA-0C67-4793-A997-2E745B0480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693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F5FB-E451-487D-B946-D892DCD48A78}" type="datetime1">
              <a:rPr lang="en-US" smtClean="0"/>
              <a:t>6/27/2022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FCFA-0C67-4793-A997-2E745B0480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770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E800B-1F83-41D5-B9DC-E5EA79465E73}" type="datetime1">
              <a:rPr lang="en-US" smtClean="0"/>
              <a:t>6/27/2022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FCFA-0C67-4793-A997-2E745B0480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730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5C89B-2BEC-485F-93FA-44EEF90F6FBB}" type="datetime1">
              <a:rPr lang="en-US" smtClean="0"/>
              <a:t>6/27/2022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FCFA-0C67-4793-A997-2E745B0480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75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29EE2-B17F-4270-8E64-6B5C78E5C03A}" type="datetime1">
              <a:rPr lang="en-US" smtClean="0"/>
              <a:t>6/27/2022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FCFA-0C67-4793-A997-2E745B0480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880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FEAF1-8692-417A-A541-60839513B2E7}" type="datetime1">
              <a:rPr lang="en-US" smtClean="0"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FCFA-0C67-4793-A997-2E745B0480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862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84402-ED96-4AE6-BAC8-37069B751DA6}" type="datetime1">
              <a:rPr lang="en-US" smtClean="0"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FCFA-0C67-4793-A997-2E745B0480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299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B4824-7CB5-4DE4-8609-F93E8A154068}" type="datetime1">
              <a:rPr lang="en-US" smtClean="0"/>
              <a:t>6/27/2022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3FCFA-0C67-4793-A997-2E745B0480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66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Visio_Drawing.vsdx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4450" y="542925"/>
            <a:ext cx="9429749" cy="6315074"/>
          </a:xfrm>
        </p:spPr>
        <p:txBody>
          <a:bodyPr>
            <a:normAutofit fontScale="62500" lnSpcReduction="20000"/>
          </a:bodyPr>
          <a:lstStyle/>
          <a:p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OF LINEAR REGRESSION IN CAR PRICE PREDICTION SYSTEM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to the faculty of Engineering of</a:t>
            </a:r>
          </a:p>
          <a:p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COSMOS COLLEGE OF MANAGEMENT AND TECHNOLOGY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partial fulfillment of the requirements for the award of the degree of</a:t>
            </a:r>
          </a:p>
          <a:p>
            <a:r>
              <a:rPr lang="en-US" sz="3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Bachelor 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	</a:t>
            </a:r>
          </a:p>
          <a:p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&amp; Engineering</a:t>
            </a:r>
          </a:p>
          <a:p>
            <a:endParaRPr lang="en-US" sz="3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		ATUL POKHAREL             	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(170308)</a:t>
            </a:r>
          </a:p>
          <a:p>
            <a:pPr algn="just"/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		NABIN RAJ DHUNGEL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(170322)</a:t>
            </a:r>
          </a:p>
          <a:p>
            <a:pPr algn="just"/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			NABIN JOSHI                    	 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(170323)</a:t>
            </a:r>
          </a:p>
          <a:p>
            <a:pPr algn="just"/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		RAKSHYA BHETWAL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(170334)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	               </a:t>
            </a:r>
          </a:p>
        </p:txBody>
      </p:sp>
      <p:pic>
        <p:nvPicPr>
          <p:cNvPr id="7" name="Picture 6" descr="cosmos_logo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02306" y="3468780"/>
            <a:ext cx="1254035" cy="7968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8200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2385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2218"/>
            <a:ext cx="10515600" cy="5054745"/>
          </a:xfrm>
        </p:spPr>
        <p:txBody>
          <a:bodyPr>
            <a:no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will provide the overview for developing machine learning models. 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of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PRICE PREDICTION SYSTEM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used to accurately predict the price of a used car based on its features. 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shall provide efficient and flexible collection of information in order to make informed purchases.</a:t>
            </a:r>
          </a:p>
        </p:txBody>
      </p:sp>
    </p:spTree>
    <p:extLst>
      <p:ext uri="{BB962C8B-B14F-4D97-AF65-F5344CB8AC3E}">
        <p14:creationId xmlns:p14="http://schemas.microsoft.com/office/powerpoint/2010/main" val="1936265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2385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2218"/>
            <a:ext cx="10515600" cy="5054745"/>
          </a:xfrm>
        </p:spPr>
        <p:txBody>
          <a:bodyPr>
            <a:no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To predict the price of second-hand cars on the basis of given</a:t>
            </a:r>
            <a:r>
              <a:rPr lang="en-US" sz="3600" spc="-15" dirty="0"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3600" dirty="0"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attributes,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To provide feature based system(i.e. feature wise prediction must be possible).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201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9" y="0"/>
            <a:ext cx="4294909" cy="1413164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INTRODUCTION 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191491"/>
            <a:ext cx="10805159" cy="5235436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‘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PRICE PREDICTION SYSTEM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’; a web-based platform embedded with machine learning.</a:t>
            </a:r>
          </a:p>
          <a:p>
            <a:pPr algn="just"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contains the complete information about the vehicle such as vehicle model, kilometers travelled, fuel type and so on.</a:t>
            </a:r>
          </a:p>
          <a:p>
            <a:pPr lvl="0" algn="just"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increases accuracy as the value of the car will be forecasted using multiple attributes.</a:t>
            </a:r>
          </a:p>
          <a:p>
            <a:pPr lvl="0" algn="just">
              <a:lnSpc>
                <a:spcPct val="10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281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2187"/>
          </a:xfrm>
        </p:spPr>
        <p:txBody>
          <a:bodyPr>
            <a:normAutofit/>
          </a:bodyPr>
          <a:lstStyle/>
          <a:p>
            <a:r>
              <a:rPr lang="en-US" sz="4000" b="1" dirty="0"/>
              <a:t>               	   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788" y="1149532"/>
            <a:ext cx="10768012" cy="5112723"/>
          </a:xfrm>
        </p:spPr>
        <p:txBody>
          <a:bodyPr>
            <a:normAutofit fontScale="25000" lnSpcReduction="20000"/>
          </a:bodyPr>
          <a:lstStyle/>
          <a:p>
            <a:pPr lvl="1" algn="just">
              <a:lnSpc>
                <a:spcPct val="120000"/>
              </a:lnSpc>
            </a:pPr>
            <a:r>
              <a:rPr lang="en-US" sz="1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highlights the confusion of the buyers and helps them get a suitable car as per their requirements.</a:t>
            </a:r>
          </a:p>
          <a:p>
            <a:pPr lvl="1" algn="just">
              <a:lnSpc>
                <a:spcPct val="120000"/>
              </a:lnSpc>
            </a:pPr>
            <a:r>
              <a:rPr lang="en-US" sz="1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Aid shall be provided to the sellers for predicting the reasonable price to sell their car with the help of information about current market situation.</a:t>
            </a:r>
          </a:p>
          <a:p>
            <a:pPr lvl="1" algn="just">
              <a:lnSpc>
                <a:spcPct val="120000"/>
              </a:lnSpc>
            </a:pPr>
            <a:endParaRPr lang="en-US" sz="1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</a:pPr>
            <a:endParaRPr lang="en-US" sz="67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6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6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9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190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583" y="442913"/>
            <a:ext cx="10609217" cy="591343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 et al. (2018) used Random Forest, a controlled learning method to estimate the price of used cars. 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Noor and Jan (2017) offer a vehicle price forecasting system.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Richardson (2009) in his thesis work applied multiple regression analysis and demonstrated that hybrid cars retain their value for longer time than traditional cars.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platforms as Cars24, Get Vehicle Price, etc.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877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412433"/>
            <a:ext cx="10622280" cy="6212023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APPROACH</a:t>
            </a:r>
          </a:p>
          <a:p>
            <a:pPr marL="0" lvl="0" indent="0" algn="ctr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image15.jpeg"/>
          <p:cNvPicPr/>
          <p:nvPr/>
        </p:nvPicPr>
        <p:blipFill rotWithShape="1">
          <a:blip r:embed="rId2" cstate="print"/>
          <a:srcRect b="6791"/>
          <a:stretch/>
        </p:blipFill>
        <p:spPr bwMode="auto">
          <a:xfrm>
            <a:off x="3129193" y="1375356"/>
            <a:ext cx="6210750" cy="49809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62390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412433"/>
            <a:ext cx="10622280" cy="6212023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FLOWDIAGRAM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310" y="927463"/>
            <a:ext cx="8307976" cy="552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390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412433"/>
            <a:ext cx="10622280" cy="6212023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USE CASE DIAGRAM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432" y="1147762"/>
            <a:ext cx="5078413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571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412433"/>
            <a:ext cx="10622280" cy="6212023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IMPLEMENTATION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pic>
        <p:nvPicPr>
          <p:cNvPr id="5" name="image16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5452" y="1280160"/>
            <a:ext cx="6923314" cy="488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89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412433"/>
            <a:ext cx="10622280" cy="6212023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SYSTEM WORKFLOW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graphicFrame>
        <p:nvGraphicFramePr>
          <p:cNvPr id="102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347907"/>
              </p:ext>
            </p:extLst>
          </p:nvPr>
        </p:nvGraphicFramePr>
        <p:xfrm>
          <a:off x="1401871" y="1403530"/>
          <a:ext cx="9388258" cy="4148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153064" imgH="1971710" progId="">
                  <p:embed/>
                </p:oleObj>
              </mc:Choice>
              <mc:Fallback>
                <p:oleObj r:id="rId2" imgW="6153064" imgH="197171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871" y="1403530"/>
                        <a:ext cx="9388258" cy="41481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2390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412433"/>
            <a:ext cx="10622280" cy="6212023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  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 SAMPLE</a:t>
            </a:r>
          </a:p>
          <a:p>
            <a:pPr marL="0" indent="0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pic>
        <p:nvPicPr>
          <p:cNvPr id="7" name="image27.jpe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932" y="1229631"/>
            <a:ext cx="8477793" cy="471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390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412433"/>
            <a:ext cx="10622280" cy="6212023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PREDICTION GRAPH</a:t>
            </a:r>
          </a:p>
          <a:p>
            <a:pPr marL="0" indent="0">
              <a:buNone/>
            </a:pP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pic>
        <p:nvPicPr>
          <p:cNvPr id="7" name="Picture 6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" t="-2334" r="-739" b="2334"/>
          <a:stretch/>
        </p:blipFill>
        <p:spPr bwMode="auto">
          <a:xfrm>
            <a:off x="1831206" y="1479884"/>
            <a:ext cx="8699174" cy="43446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662737" y="1167063"/>
            <a:ext cx="2574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Y-axis: Price</a:t>
            </a:r>
            <a:endParaRPr lang="en-GB" dirty="0"/>
          </a:p>
          <a:p>
            <a:r>
              <a:rPr lang="en-US" b="1" dirty="0"/>
              <a:t>X-axis: Year of Purchase</a:t>
            </a:r>
            <a:endParaRPr lang="en-GB" dirty="0"/>
          </a:p>
          <a:p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1097280" y="3467567"/>
            <a:ext cx="73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itchFamily="18" charset="0"/>
                <a:cs typeface="Times New Roman" pitchFamily="18" charset="0"/>
              </a:rPr>
              <a:t>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9015" y="5688426"/>
            <a:ext cx="2273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Year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b="1" dirty="0"/>
              <a:t> Purchase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2390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412433"/>
            <a:ext cx="10622280" cy="6212023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GRAPH</a:t>
            </a:r>
          </a:p>
          <a:p>
            <a:pPr marL="0" lv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OF CARS ON THE BASIS OF MANUFACTURING COMPANY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033" y="1557156"/>
            <a:ext cx="5434149" cy="479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747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412433"/>
            <a:ext cx="10622280" cy="6212023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on Price due to Manufacturing Year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457" y="1609769"/>
            <a:ext cx="6008913" cy="464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495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412433"/>
            <a:ext cx="10622280" cy="6212023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vs. Mileage 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80" y="1737360"/>
            <a:ext cx="7276011" cy="461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290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412433"/>
            <a:ext cx="10622280" cy="6212023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				   SNAPSHOT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pic>
        <p:nvPicPr>
          <p:cNvPr id="7" name="Picture 6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67"/>
          <a:stretch/>
        </p:blipFill>
        <p:spPr bwMode="auto">
          <a:xfrm>
            <a:off x="2442754" y="1447188"/>
            <a:ext cx="8268789" cy="43919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62390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412433"/>
            <a:ext cx="10622280" cy="6212023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				   SNAPSHOT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810" y="1149531"/>
            <a:ext cx="8347167" cy="510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15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3691"/>
            <a:ext cx="10515600" cy="1045029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WORKING SCHEDULE</a:t>
            </a: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434" y="1515291"/>
            <a:ext cx="8725988" cy="484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635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412433"/>
            <a:ext cx="10622280" cy="6212023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				   SNAPSHOT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309" y="1201781"/>
            <a:ext cx="9065622" cy="488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831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2385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FURTHER ENHANCEMENT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2218"/>
            <a:ext cx="10515600" cy="5054745"/>
          </a:xfrm>
        </p:spPr>
        <p:txBody>
          <a:bodyPr>
            <a:no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future, it is possible to predict price using image of car and also detect defect on car using the same.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possible to increase accuracy of the predicting model by increasing attributes in dataset.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Review and Ownership Rating can be implemented for trusted trading.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976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smos_logo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36727" y="304006"/>
            <a:ext cx="1371600" cy="14478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3394364" y="2967335"/>
            <a:ext cx="5430981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YOU…</a:t>
            </a:r>
            <a:endParaRPr lang="en-US" sz="60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7473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ac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432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509</Words>
  <Application>Microsoft Office PowerPoint</Application>
  <PresentationFormat>Widescreen</PresentationFormat>
  <Paragraphs>77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                          OVERVIEW</vt:lpstr>
      <vt:lpstr>                          OBJECTIVES</vt:lpstr>
      <vt:lpstr>                                                                    INTRODUCTION  </vt:lpstr>
      <vt:lpstr>                     PROBLEM DEFINITION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WORKING SCHEDULE</vt:lpstr>
      <vt:lpstr>PowerPoint Presentation</vt:lpstr>
      <vt:lpstr>                 FURTHER ENHANCEMENT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Rakshya Bhetwal</cp:lastModifiedBy>
  <cp:revision>92</cp:revision>
  <dcterms:created xsi:type="dcterms:W3CDTF">2019-07-17T13:37:10Z</dcterms:created>
  <dcterms:modified xsi:type="dcterms:W3CDTF">2022-06-27T15:46:55Z</dcterms:modified>
</cp:coreProperties>
</file>